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7"/>
  </p:notesMasterIdLst>
  <p:sldIdLst>
    <p:sldId id="256" r:id="rId3"/>
    <p:sldId id="571" r:id="rId4"/>
    <p:sldId id="572" r:id="rId5"/>
    <p:sldId id="573" r:id="rId6"/>
    <p:sldId id="582" r:id="rId7"/>
    <p:sldId id="574" r:id="rId8"/>
    <p:sldId id="575" r:id="rId9"/>
    <p:sldId id="583" r:id="rId10"/>
    <p:sldId id="576" r:id="rId11"/>
    <p:sldId id="581"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dishu-13/E-Commerce-Sales-PowerBI-Dashboard.git"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ishu-13/E-Commerce-Sales-PowerBI-Dashboard.git" TargetMode="External"/><Relationship Id="rId2" Type="http://schemas.openxmlformats.org/officeDocument/2006/relationships/hyperlink" Target="https://1drv.ms/x/c/bbe319f6f5671796/IQCNTPJ8pmKfSpTXZBgbO4OpAflpME5C7sf9Ho8kGJk-0VI?e=f1sJJf"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391886" y="1704740"/>
            <a:ext cx="5075853" cy="1915537"/>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Bell MT" panose="02020503060305020303" pitchFamily="18" charset="0"/>
              </a:rPr>
              <a:t>E-COMMERCE REPORT ANALYSIS </a:t>
            </a:r>
            <a:endParaRPr lang="en-US" sz="5100" dirty="0">
              <a:latin typeface="Bell MT" panose="02020503060305020303" pitchFamily="18" charset="0"/>
            </a:endParaRPr>
          </a:p>
          <a:p>
            <a:pPr algn="l"/>
            <a:endParaRPr lang="en-US" sz="5100" b="1" kern="1200" dirty="0"/>
          </a:p>
        </p:txBody>
      </p:sp>
      <p:sp>
        <p:nvSpPr>
          <p:cNvPr id="5" name="Subtitle 2"/>
          <p:cNvSpPr>
            <a:spLocks noGrp="1"/>
          </p:cNvSpPr>
          <p:nvPr/>
        </p:nvSpPr>
        <p:spPr>
          <a:xfrm>
            <a:off x="594126" y="3739889"/>
            <a:ext cx="4584363"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latin typeface="Bell MT" panose="02020503060305020303" pitchFamily="18" charset="0"/>
              </a:rPr>
              <a:t>Presented By</a:t>
            </a:r>
            <a:endParaRPr lang="en-US" sz="1600" cap="all" dirty="0">
              <a:latin typeface="Bell MT" panose="02020503060305020303" pitchFamily="18" charset="0"/>
            </a:endParaRPr>
          </a:p>
          <a:p>
            <a:pPr algn="l">
              <a:spcAft>
                <a:spcPts val="600"/>
              </a:spcAft>
            </a:pPr>
            <a:r>
              <a:rPr lang="en-US" sz="1600" b="1" cap="all" dirty="0">
                <a:latin typeface="Bell MT" panose="02020503060305020303" pitchFamily="18" charset="0"/>
              </a:rPr>
              <a:t>Student Name: Dishu daksh</a:t>
            </a:r>
          </a:p>
          <a:p>
            <a:pPr algn="l">
              <a:spcAft>
                <a:spcPts val="600"/>
              </a:spcAft>
            </a:pPr>
            <a:r>
              <a:rPr lang="en-US" sz="1600" b="1" cap="all" dirty="0">
                <a:latin typeface="Bell MT" panose="02020503060305020303" pitchFamily="18" charset="0"/>
              </a:rPr>
              <a:t>College Name: </a:t>
            </a:r>
            <a:r>
              <a:rPr lang="en-US" sz="1600" b="1" cap="all" dirty="0" err="1">
                <a:latin typeface="Bell MT" panose="02020503060305020303" pitchFamily="18" charset="0"/>
              </a:rPr>
              <a:t>surajmal</a:t>
            </a:r>
            <a:r>
              <a:rPr lang="en-US" sz="1600" b="1" cap="all" dirty="0">
                <a:latin typeface="Bell MT" panose="02020503060305020303" pitchFamily="18" charset="0"/>
              </a:rPr>
              <a:t> university</a:t>
            </a:r>
          </a:p>
          <a:p>
            <a:pPr algn="l">
              <a:spcAft>
                <a:spcPts val="600"/>
              </a:spcAft>
            </a:pPr>
            <a:r>
              <a:rPr lang="en-US" sz="1600" b="1" cap="all" dirty="0">
                <a:latin typeface="Bell MT" panose="02020503060305020303" pitchFamily="18" charset="0"/>
              </a:rPr>
              <a:t>Department: COMPUTER Engineering</a:t>
            </a:r>
          </a:p>
          <a:p>
            <a:pPr algn="l">
              <a:spcAft>
                <a:spcPts val="600"/>
              </a:spcAft>
            </a:pPr>
            <a:r>
              <a:rPr lang="en-US" sz="1600" b="1" cap="all" dirty="0">
                <a:latin typeface="Bell MT" panose="02020503060305020303" pitchFamily="18" charset="0"/>
              </a:rPr>
              <a:t>Email ID: dishudaksh44@gmail.com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83A4F584-26CD-38F2-91B7-5BA542693D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2000" y="379900"/>
            <a:ext cx="4985657" cy="598671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Bell MT" panose="02020503060305020303" pitchFamily="18" charset="0"/>
                <a:cs typeface="Arial" panose="020B0604020202020204"/>
              </a:rPr>
              <a:t>Problem Statement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Proposed System/Solution</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System Development Approach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Algorithm &amp; Deployment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Result (Output Image)</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Conclusion</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Future Scope</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References</a:t>
            </a:r>
            <a:endParaRPr lang="en-US" sz="2200" dirty="0">
              <a:latin typeface="Bell MT" panose="02020503060305020303" pitchFamily="18" charset="0"/>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567542"/>
            <a:ext cx="10515600" cy="4534677"/>
          </a:xfrm>
        </p:spPr>
        <p:txBody>
          <a:bodyPr vert="horz" lIns="91440" tIns="45720" rIns="91440" bIns="45720" rtlCol="0">
            <a:normAutofit/>
          </a:bodyPr>
          <a:lstStyle/>
          <a:p>
            <a:r>
              <a:rPr lang="en-GB" sz="1700" dirty="0">
                <a:latin typeface="Bell MT" panose="02020503060305020303" pitchFamily="18" charset="0"/>
              </a:rPr>
              <a:t>In the modern digital economy, e-commerce platforms generate a large amount of transactional data such as sales, profits, customer segments, product categories, and shipping details.</a:t>
            </a:r>
          </a:p>
          <a:p>
            <a:r>
              <a:rPr lang="en-GB" sz="1700" dirty="0">
                <a:latin typeface="Bell MT" panose="02020503060305020303" pitchFamily="18" charset="0"/>
              </a:rPr>
              <a:t>However, many businesses struggle to interpret this data effectively due to the lack of structured analysis tools. Traditional reporting methods often rely on spreadsheets and static reports, which fail to provide real-time insights and interactive exploration.</a:t>
            </a:r>
          </a:p>
          <a:p>
            <a:r>
              <a:rPr lang="en-GB" sz="1700" dirty="0">
                <a:latin typeface="Bell MT" panose="02020503060305020303" pitchFamily="18" charset="0"/>
              </a:rPr>
              <a:t>Because of this, organizations find it difficult to identify high-performing products, </a:t>
            </a:r>
            <a:r>
              <a:rPr lang="en-GB" sz="1700" dirty="0" err="1">
                <a:latin typeface="Bell MT" panose="02020503060305020303" pitchFamily="18" charset="0"/>
              </a:rPr>
              <a:t>analyze</a:t>
            </a:r>
            <a:r>
              <a:rPr lang="en-GB" sz="1700" dirty="0">
                <a:latin typeface="Bell MT" panose="02020503060305020303" pitchFamily="18" charset="0"/>
              </a:rPr>
              <a:t> regional sales performance, and understand customer </a:t>
            </a:r>
            <a:r>
              <a:rPr lang="en-GB" sz="1700" dirty="0" err="1">
                <a:latin typeface="Bell MT" panose="02020503060305020303" pitchFamily="18" charset="0"/>
              </a:rPr>
              <a:t>behavior</a:t>
            </a:r>
            <a:r>
              <a:rPr lang="en-GB" sz="1700" dirty="0">
                <a:latin typeface="Bell MT" panose="02020503060305020303" pitchFamily="18" charset="0"/>
              </a:rPr>
              <a:t>.</a:t>
            </a:r>
          </a:p>
          <a:p>
            <a:r>
              <a:rPr lang="en-GB" sz="1700" dirty="0">
                <a:latin typeface="Bell MT" panose="02020503060305020303" pitchFamily="18" charset="0"/>
              </a:rPr>
              <a:t>Therefore, there is a need for an interactive analytics system that can convert raw e-commerce data into meaningful business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534160"/>
            <a:ext cx="10515600" cy="4297680"/>
          </a:xfrm>
        </p:spPr>
        <p:txBody>
          <a:bodyPr vert="horz" lIns="91440" tIns="45720" rIns="91440" bIns="45720" rtlCol="0" anchor="t">
            <a:noAutofit/>
          </a:bodyPr>
          <a:lstStyle/>
          <a:p>
            <a:pPr marL="0" indent="0">
              <a:buNone/>
            </a:pPr>
            <a:r>
              <a:rPr lang="en-GB" sz="1700" dirty="0">
                <a:latin typeface="Bell MT" panose="02020503060305020303" pitchFamily="18" charset="0"/>
              </a:rPr>
              <a:t>To overcome the challenges of </a:t>
            </a:r>
            <a:r>
              <a:rPr lang="en-GB" sz="1700" dirty="0" err="1">
                <a:latin typeface="Bell MT" panose="02020503060305020303" pitchFamily="18" charset="0"/>
              </a:rPr>
              <a:t>analyzing</a:t>
            </a:r>
            <a:r>
              <a:rPr lang="en-GB" sz="1700" dirty="0">
                <a:latin typeface="Bell MT" panose="02020503060305020303" pitchFamily="18" charset="0"/>
              </a:rPr>
              <a:t> large volumes of e-commerce data, this project proposes the development of an </a:t>
            </a:r>
            <a:r>
              <a:rPr lang="en-GB" sz="1700" b="1" dirty="0">
                <a:latin typeface="Bell MT" panose="02020503060305020303" pitchFamily="18" charset="0"/>
              </a:rPr>
              <a:t>interactive E-Commerce Sales Analytics Dashboard</a:t>
            </a:r>
            <a:r>
              <a:rPr lang="en-GB" sz="1700" dirty="0">
                <a:latin typeface="Bell MT" panose="02020503060305020303" pitchFamily="18" charset="0"/>
              </a:rPr>
              <a:t> using </a:t>
            </a:r>
            <a:r>
              <a:rPr lang="en-GB" sz="1700" b="1" dirty="0">
                <a:latin typeface="Bell MT" panose="02020503060305020303" pitchFamily="18" charset="0"/>
              </a:rPr>
              <a:t>Microsoft Power BI</a:t>
            </a:r>
            <a:r>
              <a:rPr lang="en-GB" sz="1700" dirty="0">
                <a:latin typeface="Bell MT" panose="02020503060305020303" pitchFamily="18" charset="0"/>
              </a:rPr>
              <a:t>.</a:t>
            </a:r>
          </a:p>
          <a:p>
            <a:pPr marL="0" indent="0">
              <a:buNone/>
            </a:pPr>
            <a:r>
              <a:rPr lang="en-GB" sz="1700" dirty="0">
                <a:latin typeface="Bell MT" panose="02020503060305020303" pitchFamily="18" charset="0"/>
              </a:rPr>
              <a:t>The main objective of the proposed system is to convert raw transactional data into meaningful and easy-to-understand visual insights that help businesses make better decisions.</a:t>
            </a:r>
          </a:p>
          <a:p>
            <a:pPr marL="0" indent="0">
              <a:buNone/>
            </a:pPr>
            <a:r>
              <a:rPr lang="en-GB" sz="1700" dirty="0">
                <a:latin typeface="Bell MT" panose="02020503060305020303" pitchFamily="18" charset="0"/>
              </a:rPr>
              <a:t>The proposed solution includes the following components:</a:t>
            </a:r>
          </a:p>
          <a:p>
            <a:pPr marL="0" indent="0">
              <a:buNone/>
            </a:pPr>
            <a:r>
              <a:rPr lang="en-GB" sz="1700" b="1" dirty="0">
                <a:latin typeface="Bell MT" panose="02020503060305020303" pitchFamily="18" charset="0"/>
              </a:rPr>
              <a:t>Data Collection</a:t>
            </a:r>
            <a:br>
              <a:rPr lang="en-GB" sz="1700" dirty="0">
                <a:latin typeface="Bell MT" panose="02020503060305020303" pitchFamily="18" charset="0"/>
              </a:rPr>
            </a:br>
            <a:r>
              <a:rPr lang="en-GB" sz="1700" dirty="0">
                <a:latin typeface="Bell MT" panose="02020503060305020303" pitchFamily="18" charset="0"/>
              </a:rPr>
              <a:t>The system uses the </a:t>
            </a:r>
            <a:r>
              <a:rPr lang="en-GB" sz="1700" b="1" dirty="0">
                <a:latin typeface="Bell MT" panose="02020503060305020303" pitchFamily="18" charset="0"/>
              </a:rPr>
              <a:t>Sample Superstore dataset</a:t>
            </a:r>
            <a:r>
              <a:rPr lang="en-GB" sz="1700" dirty="0">
                <a:latin typeface="Bell MT" panose="02020503060305020303" pitchFamily="18" charset="0"/>
              </a:rPr>
              <a:t>, which contains information about customer orders, sales revenue, profit margins, product categories, shipping modes, and regional sales data.</a:t>
            </a:r>
          </a:p>
          <a:p>
            <a:pPr marL="0" indent="0">
              <a:buNone/>
            </a:pPr>
            <a:r>
              <a:rPr lang="en-GB" sz="1700" b="1" dirty="0">
                <a:latin typeface="Bell MT" panose="02020503060305020303" pitchFamily="18" charset="0"/>
              </a:rPr>
              <a:t>Data Preprocessing</a:t>
            </a:r>
            <a:br>
              <a:rPr lang="en-GB" sz="1700" dirty="0">
                <a:latin typeface="Bell MT" panose="02020503060305020303" pitchFamily="18" charset="0"/>
              </a:rPr>
            </a:br>
            <a:r>
              <a:rPr lang="en-GB" sz="1700" dirty="0">
                <a:latin typeface="Bell MT" panose="02020503060305020303" pitchFamily="18" charset="0"/>
              </a:rPr>
              <a:t>Before analysis, the dataset is cleaned and transformed using </a:t>
            </a:r>
            <a:r>
              <a:rPr lang="en-GB" sz="1700" b="1" dirty="0">
                <a:latin typeface="Bell MT" panose="02020503060305020303" pitchFamily="18" charset="0"/>
              </a:rPr>
              <a:t>Power Query</a:t>
            </a:r>
            <a:r>
              <a:rPr lang="en-GB" sz="1700" dirty="0">
                <a:latin typeface="Bell MT" panose="02020503060305020303" pitchFamily="18" charset="0"/>
              </a:rPr>
              <a:t>. This step removes inconsistencies, handles missing values, and prepares the data for analysis.</a:t>
            </a:r>
          </a:p>
          <a:p>
            <a:pPr marL="0" indent="0">
              <a:buNone/>
            </a:pPr>
            <a:r>
              <a:rPr lang="en-GB" sz="1700" b="1" dirty="0">
                <a:latin typeface="Bell MT" panose="02020503060305020303" pitchFamily="18" charset="0"/>
              </a:rPr>
              <a:t>Data </a:t>
            </a:r>
            <a:r>
              <a:rPr lang="en-GB" sz="1700" b="1" dirty="0" err="1">
                <a:latin typeface="Bell MT" panose="02020503060305020303" pitchFamily="18" charset="0"/>
              </a:rPr>
              <a:t>Modeling</a:t>
            </a:r>
            <a:r>
              <a:rPr lang="en-GB" sz="1700" b="1" dirty="0">
                <a:latin typeface="Bell MT" panose="02020503060305020303" pitchFamily="18" charset="0"/>
              </a:rPr>
              <a:t> and KPI Creation</a:t>
            </a:r>
            <a:br>
              <a:rPr lang="en-GB" sz="1700" dirty="0">
                <a:latin typeface="Bell MT" panose="02020503060305020303" pitchFamily="18" charset="0"/>
              </a:rPr>
            </a:br>
            <a:r>
              <a:rPr lang="en-GB" sz="1700" dirty="0">
                <a:latin typeface="Bell MT" panose="02020503060305020303" pitchFamily="18" charset="0"/>
              </a:rPr>
              <a:t>Important business metrics such as </a:t>
            </a:r>
            <a:r>
              <a:rPr lang="en-GB" sz="1700" b="1" dirty="0">
                <a:latin typeface="Bell MT" panose="02020503060305020303" pitchFamily="18" charset="0"/>
              </a:rPr>
              <a:t>Total Sales, Total Profit, Total Orders, and Total Discount</a:t>
            </a:r>
            <a:r>
              <a:rPr lang="en-GB" sz="1700" dirty="0">
                <a:latin typeface="Bell MT" panose="02020503060305020303" pitchFamily="18" charset="0"/>
              </a:rPr>
              <a:t> are calculated using </a:t>
            </a:r>
            <a:r>
              <a:rPr lang="en-GB" sz="1700" b="1" dirty="0">
                <a:latin typeface="Bell MT" panose="02020503060305020303" pitchFamily="18" charset="0"/>
              </a:rPr>
              <a:t>DAX (Data Analysis Expressions)</a:t>
            </a:r>
            <a:r>
              <a:rPr lang="en-GB" sz="1700" dirty="0">
                <a:latin typeface="Bell MT" panose="02020503060305020303" pitchFamily="18" charset="0"/>
              </a:rPr>
              <a:t>. These KPIs provide a quick overview of business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8C45A-943C-0020-8DDD-92EDDE5E4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6D828-D5C5-65A9-4770-36DA635A2CE4}"/>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 </a:t>
            </a:r>
            <a:endParaRPr lang="en-US" sz="4000" dirty="0"/>
          </a:p>
        </p:txBody>
      </p:sp>
      <p:sp>
        <p:nvSpPr>
          <p:cNvPr id="3" name="Content Placeholder 2">
            <a:extLst>
              <a:ext uri="{FF2B5EF4-FFF2-40B4-BE49-F238E27FC236}">
                <a16:creationId xmlns:a16="http://schemas.microsoft.com/office/drawing/2014/main" id="{F0B22AC2-8BA3-5EA4-F1A7-CAFF69D7486E}"/>
              </a:ext>
            </a:extLst>
          </p:cNvPr>
          <p:cNvSpPr>
            <a:spLocks noGrp="1"/>
          </p:cNvSpPr>
          <p:nvPr>
            <p:ph idx="1"/>
          </p:nvPr>
        </p:nvSpPr>
        <p:spPr>
          <a:xfrm>
            <a:off x="317409" y="1035698"/>
            <a:ext cx="10515600" cy="5517501"/>
          </a:xfrm>
        </p:spPr>
        <p:txBody>
          <a:bodyPr vert="horz" lIns="91440" tIns="45720" rIns="91440" bIns="45720" rtlCol="0">
            <a:normAutofit/>
          </a:bodyPr>
          <a:lstStyle/>
          <a:p>
            <a:pPr marL="0" indent="0">
              <a:buNone/>
            </a:pPr>
            <a:r>
              <a:rPr lang="en-GB" sz="1700" b="1" dirty="0">
                <a:latin typeface="Bell MT" panose="02020503060305020303" pitchFamily="18" charset="0"/>
              </a:rPr>
              <a:t>Dashboard Visualization</a:t>
            </a:r>
            <a:br>
              <a:rPr lang="en-GB" sz="1700" dirty="0">
                <a:latin typeface="Bell MT" panose="02020503060305020303" pitchFamily="18" charset="0"/>
              </a:rPr>
            </a:br>
            <a:r>
              <a:rPr lang="en-GB" sz="1700" dirty="0">
                <a:latin typeface="Bell MT" panose="02020503060305020303" pitchFamily="18" charset="0"/>
              </a:rPr>
              <a:t>Interactive visualizations are created to present the insights clearly, including:</a:t>
            </a:r>
          </a:p>
          <a:p>
            <a:pPr marL="457200" lvl="1" indent="0">
              <a:buNone/>
            </a:pPr>
            <a:r>
              <a:rPr lang="en-GB" sz="1700" dirty="0">
                <a:latin typeface="Bell MT" panose="02020503060305020303" pitchFamily="18" charset="0"/>
              </a:rPr>
              <a:t>• Bar charts for product category performance</a:t>
            </a:r>
            <a:br>
              <a:rPr lang="en-GB" sz="1700" dirty="0">
                <a:latin typeface="Bell MT" panose="02020503060305020303" pitchFamily="18" charset="0"/>
              </a:rPr>
            </a:br>
            <a:r>
              <a:rPr lang="en-GB" sz="1700" dirty="0">
                <a:latin typeface="Bell MT" panose="02020503060305020303" pitchFamily="18" charset="0"/>
              </a:rPr>
              <a:t>• Line charts for sales trends</a:t>
            </a:r>
            <a:br>
              <a:rPr lang="en-GB" sz="1700" dirty="0">
                <a:latin typeface="Bell MT" panose="02020503060305020303" pitchFamily="18" charset="0"/>
              </a:rPr>
            </a:br>
            <a:r>
              <a:rPr lang="en-GB" sz="1700" dirty="0">
                <a:latin typeface="Bell MT" panose="02020503060305020303" pitchFamily="18" charset="0"/>
              </a:rPr>
              <a:t>• Map visualizations for regional sales distribution</a:t>
            </a:r>
            <a:br>
              <a:rPr lang="en-GB" sz="1700" dirty="0">
                <a:latin typeface="Bell MT" panose="02020503060305020303" pitchFamily="18" charset="0"/>
              </a:rPr>
            </a:br>
            <a:r>
              <a:rPr lang="en-GB" sz="1700" dirty="0">
                <a:latin typeface="Bell MT" panose="02020503060305020303" pitchFamily="18" charset="0"/>
              </a:rPr>
              <a:t>• Pie charts for customer segment analysis</a:t>
            </a:r>
            <a:br>
              <a:rPr lang="en-GB" sz="1700" dirty="0">
                <a:latin typeface="Bell MT" panose="02020503060305020303" pitchFamily="18" charset="0"/>
              </a:rPr>
            </a:br>
            <a:r>
              <a:rPr lang="en-GB" sz="1700" dirty="0">
                <a:latin typeface="Bell MT" panose="02020503060305020303" pitchFamily="18" charset="0"/>
              </a:rPr>
              <a:t>• Slicers for filtering data by region, shipping mode, and category</a:t>
            </a:r>
          </a:p>
          <a:p>
            <a:pPr marL="0" indent="0">
              <a:buNone/>
            </a:pPr>
            <a:r>
              <a:rPr lang="en-GB" sz="1700" b="1" dirty="0">
                <a:latin typeface="Bell MT" panose="02020503060305020303" pitchFamily="18" charset="0"/>
              </a:rPr>
              <a:t>Interactive Analysis</a:t>
            </a:r>
            <a:br>
              <a:rPr lang="en-GB" sz="1700" dirty="0">
                <a:latin typeface="Bell MT" panose="02020503060305020303" pitchFamily="18" charset="0"/>
              </a:rPr>
            </a:br>
            <a:r>
              <a:rPr lang="en-GB" sz="1700" dirty="0">
                <a:latin typeface="Bell MT" panose="02020503060305020303" pitchFamily="18" charset="0"/>
              </a:rPr>
              <a:t>Users can interact with the dashboard by applying filters and slicers, allowing them to explore the data from multiple perspectives and identify patterns or trends quickly.</a:t>
            </a:r>
          </a:p>
          <a:p>
            <a:pPr marL="0" indent="0">
              <a:buNone/>
            </a:pPr>
            <a:r>
              <a:rPr lang="en-GB" sz="1700" dirty="0">
                <a:latin typeface="Bell MT" panose="02020503060305020303" pitchFamily="18" charset="0"/>
              </a:rPr>
              <a:t>Overall, the proposed system provides an efficient and user-friendly solution for </a:t>
            </a:r>
            <a:r>
              <a:rPr lang="en-GB" sz="1700" dirty="0" err="1">
                <a:latin typeface="Bell MT" panose="02020503060305020303" pitchFamily="18" charset="0"/>
              </a:rPr>
              <a:t>analyzing</a:t>
            </a:r>
            <a:r>
              <a:rPr lang="en-GB" sz="1700" dirty="0">
                <a:latin typeface="Bell MT" panose="02020503060305020303" pitchFamily="18" charset="0"/>
              </a:rPr>
              <a:t> e-commerce data and supporting data-driven decision making.</a:t>
            </a:r>
          </a:p>
        </p:txBody>
      </p:sp>
    </p:spTree>
    <p:extLst>
      <p:ext uri="{BB962C8B-B14F-4D97-AF65-F5344CB8AC3E}">
        <p14:creationId xmlns:p14="http://schemas.microsoft.com/office/powerpoint/2010/main" val="1922920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408922"/>
            <a:ext cx="10515600" cy="5144277"/>
          </a:xfrm>
        </p:spPr>
        <p:txBody>
          <a:bodyPr vert="horz" lIns="91440" tIns="45720" rIns="91440" bIns="45720" rtlCol="0">
            <a:noAutofit/>
          </a:bodyPr>
          <a:lstStyle/>
          <a:p>
            <a:pPr marL="0" indent="0">
              <a:buNone/>
            </a:pPr>
            <a:r>
              <a:rPr lang="en-GB" sz="1700" dirty="0">
                <a:latin typeface="Bell MT" panose="02020503060305020303" pitchFamily="18" charset="0"/>
              </a:rPr>
              <a:t>The development of the </a:t>
            </a:r>
            <a:r>
              <a:rPr lang="en-GB" sz="1700" b="1" dirty="0">
                <a:latin typeface="Bell MT" panose="02020503060305020303" pitchFamily="18" charset="0"/>
              </a:rPr>
              <a:t>E-Commerce Sales Analytics Dashboard</a:t>
            </a:r>
            <a:r>
              <a:rPr lang="en-GB" sz="1700" dirty="0">
                <a:latin typeface="Bell MT" panose="02020503060305020303" pitchFamily="18" charset="0"/>
              </a:rPr>
              <a:t> follows a structured and systematic approach to ensure accurate analysis and effective visualization of data. The process involves several stages including data collection, preprocessing, </a:t>
            </a:r>
            <a:r>
              <a:rPr lang="en-GB" sz="1700" dirty="0" err="1">
                <a:latin typeface="Bell MT" panose="02020503060305020303" pitchFamily="18" charset="0"/>
              </a:rPr>
              <a:t>modeling</a:t>
            </a:r>
            <a:r>
              <a:rPr lang="en-GB" sz="1700" dirty="0">
                <a:latin typeface="Bell MT" panose="02020503060305020303" pitchFamily="18" charset="0"/>
              </a:rPr>
              <a:t>, and dashboard creation.</a:t>
            </a:r>
          </a:p>
          <a:p>
            <a:pPr marL="0" indent="0">
              <a:buNone/>
            </a:pPr>
            <a:r>
              <a:rPr lang="en-GB" sz="1700" b="1" dirty="0">
                <a:latin typeface="Bell MT" panose="02020503060305020303" pitchFamily="18" charset="0"/>
              </a:rPr>
              <a:t>1. Data Collection</a:t>
            </a:r>
          </a:p>
          <a:p>
            <a:pPr marL="0" indent="0">
              <a:buNone/>
            </a:pPr>
            <a:r>
              <a:rPr lang="en-GB" sz="1700" dirty="0">
                <a:latin typeface="Bell MT" panose="02020503060305020303" pitchFamily="18" charset="0"/>
              </a:rPr>
              <a:t>The project uses the </a:t>
            </a:r>
            <a:r>
              <a:rPr lang="en-GB" sz="1700" b="1" dirty="0">
                <a:latin typeface="Bell MT" panose="02020503060305020303" pitchFamily="18" charset="0"/>
              </a:rPr>
              <a:t>Sample Superstore dataset</a:t>
            </a:r>
            <a:r>
              <a:rPr lang="en-GB" sz="1700" dirty="0">
                <a:latin typeface="Bell MT" panose="02020503060305020303" pitchFamily="18" charset="0"/>
              </a:rPr>
              <a:t>, which contains detailed information about customer orders, sales revenue, profit, shipping modes, product categories, and regional distribution. This dataset serves as the primary source for </a:t>
            </a:r>
            <a:r>
              <a:rPr lang="en-GB" sz="1700" dirty="0" err="1">
                <a:latin typeface="Bell MT" panose="02020503060305020303" pitchFamily="18" charset="0"/>
              </a:rPr>
              <a:t>analyzing</a:t>
            </a:r>
            <a:r>
              <a:rPr lang="en-GB" sz="1700" dirty="0">
                <a:latin typeface="Bell MT" panose="02020503060305020303" pitchFamily="18" charset="0"/>
              </a:rPr>
              <a:t> e-commerce business performance.</a:t>
            </a:r>
          </a:p>
          <a:p>
            <a:pPr marL="0" indent="0">
              <a:buNone/>
            </a:pPr>
            <a:r>
              <a:rPr lang="en-GB" sz="1700" b="1" dirty="0">
                <a:latin typeface="Bell MT" panose="02020503060305020303" pitchFamily="18" charset="0"/>
              </a:rPr>
              <a:t>2. Data Cleaning and Transformation</a:t>
            </a:r>
          </a:p>
          <a:p>
            <a:pPr marL="0" indent="0">
              <a:buNone/>
            </a:pPr>
            <a:r>
              <a:rPr lang="en-GB" sz="1700" dirty="0">
                <a:latin typeface="Bell MT" panose="02020503060305020303" pitchFamily="18" charset="0"/>
              </a:rPr>
              <a:t>Before analysis, the dataset is processed using </a:t>
            </a:r>
            <a:r>
              <a:rPr lang="en-GB" sz="1700" b="1" dirty="0">
                <a:latin typeface="Bell MT" panose="02020503060305020303" pitchFamily="18" charset="0"/>
              </a:rPr>
              <a:t>Power Query</a:t>
            </a:r>
            <a:r>
              <a:rPr lang="en-GB" sz="1700" dirty="0">
                <a:latin typeface="Bell MT" panose="02020503060305020303" pitchFamily="18" charset="0"/>
              </a:rPr>
              <a:t> in Microsoft Power BI. During this stage:</a:t>
            </a:r>
          </a:p>
          <a:p>
            <a:pPr marL="457200" lvl="1" indent="0">
              <a:buNone/>
            </a:pPr>
            <a:r>
              <a:rPr lang="en-GB" sz="1700" dirty="0">
                <a:latin typeface="Bell MT" panose="02020503060305020303" pitchFamily="18" charset="0"/>
              </a:rPr>
              <a:t>• Missing values and inconsistencies are identified and corrected</a:t>
            </a:r>
            <a:br>
              <a:rPr lang="en-GB" sz="1700" dirty="0">
                <a:latin typeface="Bell MT" panose="02020503060305020303" pitchFamily="18" charset="0"/>
              </a:rPr>
            </a:br>
            <a:r>
              <a:rPr lang="en-GB" sz="1700" dirty="0">
                <a:latin typeface="Bell MT" panose="02020503060305020303" pitchFamily="18" charset="0"/>
              </a:rPr>
              <a:t>• Data types are standardized for accurate calculations</a:t>
            </a:r>
            <a:br>
              <a:rPr lang="en-GB" sz="1700" dirty="0">
                <a:latin typeface="Bell MT" panose="02020503060305020303" pitchFamily="18" charset="0"/>
              </a:rPr>
            </a:br>
            <a:r>
              <a:rPr lang="en-GB" sz="1700" dirty="0">
                <a:latin typeface="Bell MT" panose="02020503060305020303" pitchFamily="18" charset="0"/>
              </a:rPr>
              <a:t>• Columns are renamed and formatted for better readability</a:t>
            </a:r>
          </a:p>
          <a:p>
            <a:pPr marL="0" indent="0">
              <a:buNone/>
            </a:pPr>
            <a:r>
              <a:rPr lang="en-GB" sz="1700" dirty="0">
                <a:latin typeface="Bell MT" panose="02020503060305020303" pitchFamily="18" charset="0"/>
              </a:rPr>
              <a:t>This step ensures that the dataset is clean, structured, and ready for analysis.</a:t>
            </a:r>
          </a:p>
          <a:p>
            <a:pPr marL="0" indent="0">
              <a:buNone/>
            </a:pPr>
            <a:r>
              <a:rPr lang="en-GB" sz="1700" b="1" dirty="0">
                <a:latin typeface="Bell MT" panose="02020503060305020303" pitchFamily="18" charset="0"/>
              </a:rPr>
              <a:t>3. Data </a:t>
            </a:r>
            <a:r>
              <a:rPr lang="en-GB" sz="1700" b="1" dirty="0" err="1">
                <a:latin typeface="Bell MT" panose="02020503060305020303" pitchFamily="18" charset="0"/>
              </a:rPr>
              <a:t>Modeling</a:t>
            </a:r>
            <a:endParaRPr lang="en-GB" sz="1700" b="1" dirty="0">
              <a:latin typeface="Bell MT" panose="02020503060305020303" pitchFamily="18" charset="0"/>
            </a:endParaRPr>
          </a:p>
          <a:p>
            <a:r>
              <a:rPr lang="en-GB" sz="1700" dirty="0">
                <a:latin typeface="Bell MT" panose="02020503060305020303" pitchFamily="18" charset="0"/>
              </a:rPr>
              <a:t>After cleaning the data, relationships are established between different fields such as product category, region, and customer segment. Calculated measures and business metrics are created using </a:t>
            </a:r>
            <a:r>
              <a:rPr lang="en-GB" sz="1700" b="1" dirty="0">
                <a:latin typeface="Bell MT" panose="02020503060305020303" pitchFamily="18" charset="0"/>
              </a:rPr>
              <a:t>DAX (Data Analysis Expressions)</a:t>
            </a:r>
            <a:r>
              <a:rPr lang="en-GB" sz="1700" dirty="0">
                <a:latin typeface="Bell MT" panose="02020503060305020303"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dirty="0"/>
              <a:t> </a:t>
            </a:r>
          </a:p>
        </p:txBody>
      </p:sp>
      <p:sp>
        <p:nvSpPr>
          <p:cNvPr id="3" name="Content Placeholder 2"/>
          <p:cNvSpPr>
            <a:spLocks noGrp="1"/>
          </p:cNvSpPr>
          <p:nvPr>
            <p:ph idx="1"/>
          </p:nvPr>
        </p:nvSpPr>
        <p:spPr>
          <a:xfrm>
            <a:off x="266700" y="961053"/>
            <a:ext cx="10515600" cy="5500707"/>
          </a:xfrm>
        </p:spPr>
        <p:txBody>
          <a:bodyPr vert="horz" lIns="91440" tIns="45720" rIns="91440" bIns="45720" rtlCol="0">
            <a:noAutofit/>
          </a:bodyPr>
          <a:lstStyle/>
          <a:p>
            <a:pPr marL="0" indent="0">
              <a:buNone/>
            </a:pPr>
            <a:r>
              <a:rPr lang="en-GB" sz="1700" dirty="0">
                <a:latin typeface="Bell MT" panose="02020503060305020303" pitchFamily="18" charset="0"/>
              </a:rPr>
              <a:t>Examples of key metrics include:</a:t>
            </a:r>
          </a:p>
          <a:p>
            <a:pPr marL="457200" lvl="1" indent="0">
              <a:buNone/>
            </a:pPr>
            <a:r>
              <a:rPr lang="en-GB" sz="1700" dirty="0">
                <a:latin typeface="Bell MT" panose="02020503060305020303" pitchFamily="18" charset="0"/>
              </a:rPr>
              <a:t>• Total Sales</a:t>
            </a:r>
            <a:br>
              <a:rPr lang="en-GB" sz="1700" dirty="0">
                <a:latin typeface="Bell MT" panose="02020503060305020303" pitchFamily="18" charset="0"/>
              </a:rPr>
            </a:br>
            <a:r>
              <a:rPr lang="en-GB" sz="1700" dirty="0">
                <a:latin typeface="Bell MT" panose="02020503060305020303" pitchFamily="18" charset="0"/>
              </a:rPr>
              <a:t>• Total Profit</a:t>
            </a:r>
            <a:br>
              <a:rPr lang="en-GB" sz="1700" dirty="0">
                <a:latin typeface="Bell MT" panose="02020503060305020303" pitchFamily="18" charset="0"/>
              </a:rPr>
            </a:br>
            <a:r>
              <a:rPr lang="en-GB" sz="1700" dirty="0">
                <a:latin typeface="Bell MT" panose="02020503060305020303" pitchFamily="18" charset="0"/>
              </a:rPr>
              <a:t>• Total Orders</a:t>
            </a:r>
            <a:br>
              <a:rPr lang="en-GB" sz="1700" dirty="0">
                <a:latin typeface="Bell MT" panose="02020503060305020303" pitchFamily="18" charset="0"/>
              </a:rPr>
            </a:br>
            <a:r>
              <a:rPr lang="en-GB" sz="1700" dirty="0">
                <a:latin typeface="Bell MT" panose="02020503060305020303" pitchFamily="18" charset="0"/>
              </a:rPr>
              <a:t>• Total Discount</a:t>
            </a:r>
          </a:p>
          <a:p>
            <a:pPr marL="0" indent="0">
              <a:buNone/>
            </a:pPr>
            <a:r>
              <a:rPr lang="en-GB" sz="1700" dirty="0">
                <a:latin typeface="Bell MT" panose="02020503060305020303" pitchFamily="18" charset="0"/>
              </a:rPr>
              <a:t>These KPIs provide a clear overview of the business performance.</a:t>
            </a:r>
          </a:p>
          <a:p>
            <a:pPr marL="0" indent="0">
              <a:buNone/>
            </a:pPr>
            <a:r>
              <a:rPr lang="en-GB" sz="1700" b="1" dirty="0">
                <a:latin typeface="Bell MT" panose="02020503060305020303" pitchFamily="18" charset="0"/>
              </a:rPr>
              <a:t>4. Dashboard Design and Visualization</a:t>
            </a:r>
          </a:p>
          <a:p>
            <a:pPr marL="0" indent="0">
              <a:buNone/>
            </a:pPr>
            <a:r>
              <a:rPr lang="en-GB" sz="1700" dirty="0">
                <a:latin typeface="Bell MT" panose="02020503060305020303" pitchFamily="18" charset="0"/>
              </a:rPr>
              <a:t>Interactive visualizations are created to represent the data in an easy-to-understand format. Various charts and visuals are used, including:</a:t>
            </a:r>
          </a:p>
          <a:p>
            <a:pPr marL="457200" lvl="1" indent="0">
              <a:buNone/>
            </a:pPr>
            <a:r>
              <a:rPr lang="en-GB" sz="1700" dirty="0">
                <a:latin typeface="Bell MT" panose="02020503060305020303" pitchFamily="18" charset="0"/>
              </a:rPr>
              <a:t>• Bar charts to compare product categories</a:t>
            </a:r>
            <a:br>
              <a:rPr lang="en-GB" sz="1700" dirty="0">
                <a:latin typeface="Bell MT" panose="02020503060305020303" pitchFamily="18" charset="0"/>
              </a:rPr>
            </a:br>
            <a:r>
              <a:rPr lang="en-GB" sz="1700" dirty="0">
                <a:latin typeface="Bell MT" panose="02020503060305020303" pitchFamily="18" charset="0"/>
              </a:rPr>
              <a:t>• Line charts to </a:t>
            </a:r>
            <a:r>
              <a:rPr lang="en-GB" sz="1700" dirty="0" err="1">
                <a:latin typeface="Bell MT" panose="02020503060305020303" pitchFamily="18" charset="0"/>
              </a:rPr>
              <a:t>analyze</a:t>
            </a:r>
            <a:r>
              <a:rPr lang="en-GB" sz="1700" dirty="0">
                <a:latin typeface="Bell MT" panose="02020503060305020303" pitchFamily="18" charset="0"/>
              </a:rPr>
              <a:t> sales trends</a:t>
            </a:r>
            <a:br>
              <a:rPr lang="en-GB" sz="1700" dirty="0">
                <a:latin typeface="Bell MT" panose="02020503060305020303" pitchFamily="18" charset="0"/>
              </a:rPr>
            </a:br>
            <a:r>
              <a:rPr lang="en-GB" sz="1700" dirty="0">
                <a:latin typeface="Bell MT" panose="02020503060305020303" pitchFamily="18" charset="0"/>
              </a:rPr>
              <a:t>• Map visuals to display regional sales distribution</a:t>
            </a:r>
            <a:br>
              <a:rPr lang="en-GB" sz="1700" dirty="0">
                <a:latin typeface="Bell MT" panose="02020503060305020303" pitchFamily="18" charset="0"/>
              </a:rPr>
            </a:br>
            <a:r>
              <a:rPr lang="en-GB" sz="1700" dirty="0">
                <a:latin typeface="Bell MT" panose="02020503060305020303" pitchFamily="18" charset="0"/>
              </a:rPr>
              <a:t>• Pie charts to </a:t>
            </a:r>
            <a:r>
              <a:rPr lang="en-GB" sz="1700" dirty="0" err="1">
                <a:latin typeface="Bell MT" panose="02020503060305020303" pitchFamily="18" charset="0"/>
              </a:rPr>
              <a:t>analyze</a:t>
            </a:r>
            <a:r>
              <a:rPr lang="en-GB" sz="1700" dirty="0">
                <a:latin typeface="Bell MT" panose="02020503060305020303" pitchFamily="18" charset="0"/>
              </a:rPr>
              <a:t> customer segments</a:t>
            </a:r>
          </a:p>
          <a:p>
            <a:pPr marL="0" indent="0">
              <a:buNone/>
            </a:pPr>
            <a:r>
              <a:rPr lang="en-GB" sz="1700" dirty="0">
                <a:latin typeface="Bell MT" panose="02020503060305020303" pitchFamily="18" charset="0"/>
              </a:rPr>
              <a:t>Slicers and filters are also added to allow users to interact with the dashboard and explore data dynamically.</a:t>
            </a:r>
          </a:p>
          <a:p>
            <a:pPr marL="0" indent="0">
              <a:buNone/>
            </a:pPr>
            <a:r>
              <a:rPr lang="en-GB" sz="1700" b="1" dirty="0">
                <a:latin typeface="Bell MT" panose="02020503060305020303" pitchFamily="18" charset="0"/>
              </a:rPr>
              <a:t>5. Deployment and Usage</a:t>
            </a:r>
          </a:p>
          <a:p>
            <a:r>
              <a:rPr lang="en-GB" sz="1700" dirty="0">
                <a:latin typeface="Bell MT" panose="02020503060305020303" pitchFamily="18" charset="0"/>
              </a:rPr>
              <a:t>Once the dashboard is completed, it can be published to </a:t>
            </a:r>
            <a:r>
              <a:rPr lang="en-GB" sz="1700" b="1" dirty="0">
                <a:latin typeface="Bell MT" panose="02020503060305020303" pitchFamily="18" charset="0"/>
              </a:rPr>
              <a:t>Power BI Service</a:t>
            </a:r>
            <a:r>
              <a:rPr lang="en-GB" sz="1700" dirty="0">
                <a:latin typeface="Bell MT" panose="02020503060305020303" pitchFamily="18" charset="0"/>
              </a:rPr>
              <a:t> for cloud-based access. This allows stakeholders and decision-makers to access the dashboard from different devices and collaborate effectively.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4FC506-317A-C785-DF89-466FD9F74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59386-ADFE-0EE9-D164-A8B3F50A372F}"/>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3" name="Content Placeholder 2">
            <a:extLst>
              <a:ext uri="{FF2B5EF4-FFF2-40B4-BE49-F238E27FC236}">
                <a16:creationId xmlns:a16="http://schemas.microsoft.com/office/drawing/2014/main" id="{3AC7D504-7854-5F65-5539-0DDBE2879644}"/>
              </a:ext>
            </a:extLst>
          </p:cNvPr>
          <p:cNvSpPr>
            <a:spLocks noGrp="1"/>
          </p:cNvSpPr>
          <p:nvPr>
            <p:ph idx="1"/>
          </p:nvPr>
        </p:nvSpPr>
        <p:spPr>
          <a:xfrm>
            <a:off x="266700" y="1513840"/>
            <a:ext cx="10515600" cy="4947920"/>
          </a:xfrm>
        </p:spPr>
        <p:txBody>
          <a:bodyPr vert="horz" lIns="91440" tIns="45720" rIns="91440" bIns="45720" rtlCol="0">
            <a:normAutofit/>
          </a:bodyPr>
          <a:lstStyle/>
          <a:p>
            <a:pPr marL="0" indent="0">
              <a:buNone/>
            </a:pPr>
            <a:r>
              <a:rPr lang="en-GB" sz="1700" b="1" dirty="0">
                <a:latin typeface="Bell MT" panose="02020503060305020303" pitchFamily="18" charset="0"/>
              </a:rPr>
              <a:t>Algorithm Used:</a:t>
            </a:r>
            <a:br>
              <a:rPr lang="en-GB" sz="1700" dirty="0">
                <a:latin typeface="Bell MT" panose="02020503060305020303" pitchFamily="18" charset="0"/>
              </a:rPr>
            </a:br>
            <a:r>
              <a:rPr lang="en-GB" sz="1700" dirty="0">
                <a:latin typeface="Bell MT" panose="02020503060305020303" pitchFamily="18" charset="0"/>
              </a:rPr>
              <a:t>Descriptive analytics was used to </a:t>
            </a:r>
            <a:r>
              <a:rPr lang="en-GB" sz="1700" dirty="0" err="1">
                <a:latin typeface="Bell MT" panose="02020503060305020303" pitchFamily="18" charset="0"/>
              </a:rPr>
              <a:t>analyze</a:t>
            </a:r>
            <a:r>
              <a:rPr lang="en-GB" sz="1700" dirty="0">
                <a:latin typeface="Bell MT" panose="02020503060305020303" pitchFamily="18" charset="0"/>
              </a:rPr>
              <a:t> historical sales data and identify trends.</a:t>
            </a:r>
          </a:p>
          <a:p>
            <a:pPr marL="0" indent="0">
              <a:buNone/>
            </a:pPr>
            <a:r>
              <a:rPr lang="en-GB" sz="1700" b="1" dirty="0">
                <a:latin typeface="Bell MT" panose="02020503060305020303" pitchFamily="18" charset="0"/>
              </a:rPr>
              <a:t>Process:</a:t>
            </a:r>
            <a:endParaRPr lang="en-GB" sz="1700" dirty="0">
              <a:latin typeface="Bell MT" panose="02020503060305020303" pitchFamily="18" charset="0"/>
            </a:endParaRPr>
          </a:p>
          <a:p>
            <a:pPr lvl="1"/>
            <a:r>
              <a:rPr lang="en-GB" sz="1700" dirty="0">
                <a:latin typeface="Bell MT" panose="02020503060305020303" pitchFamily="18" charset="0"/>
              </a:rPr>
              <a:t>Import dataset into Power BI</a:t>
            </a:r>
          </a:p>
          <a:p>
            <a:pPr lvl="1"/>
            <a:r>
              <a:rPr lang="en-GB" sz="1700" dirty="0">
                <a:latin typeface="Bell MT" panose="02020503060305020303" pitchFamily="18" charset="0"/>
              </a:rPr>
              <a:t>Clean and transform data using Power Query</a:t>
            </a:r>
          </a:p>
          <a:p>
            <a:pPr lvl="1"/>
            <a:r>
              <a:rPr lang="en-GB" sz="1700" dirty="0">
                <a:latin typeface="Bell MT" panose="02020503060305020303" pitchFamily="18" charset="0"/>
              </a:rPr>
              <a:t>Create calculated measures using DAX</a:t>
            </a:r>
          </a:p>
          <a:p>
            <a:pPr lvl="1"/>
            <a:r>
              <a:rPr lang="en-GB" sz="1700" dirty="0">
                <a:latin typeface="Bell MT" panose="02020503060305020303" pitchFamily="18" charset="0"/>
              </a:rPr>
              <a:t>Design dashboard visuals and KPIs</a:t>
            </a:r>
          </a:p>
          <a:p>
            <a:pPr lvl="1"/>
            <a:r>
              <a:rPr lang="en-GB" sz="1700" dirty="0">
                <a:latin typeface="Bell MT" panose="02020503060305020303" pitchFamily="18" charset="0"/>
              </a:rPr>
              <a:t>Apply filters and slicers for interactive analysis</a:t>
            </a:r>
          </a:p>
          <a:p>
            <a:pPr marL="0" indent="0">
              <a:buNone/>
            </a:pPr>
            <a:r>
              <a:rPr lang="en-GB" sz="1700" b="1" dirty="0">
                <a:latin typeface="Bell MT" panose="02020503060305020303" pitchFamily="18" charset="0"/>
              </a:rPr>
              <a:t>Deployment:</a:t>
            </a:r>
            <a:br>
              <a:rPr lang="en-GB" sz="1700" dirty="0">
                <a:latin typeface="Bell MT" panose="02020503060305020303" pitchFamily="18" charset="0"/>
              </a:rPr>
            </a:br>
            <a:r>
              <a:rPr lang="en-GB" sz="1700" dirty="0">
                <a:latin typeface="Bell MT" panose="02020503060305020303" pitchFamily="18" charset="0"/>
              </a:rPr>
              <a:t>The dashboard can be published to </a:t>
            </a:r>
            <a:r>
              <a:rPr lang="en-GB" sz="1700" b="1" dirty="0">
                <a:latin typeface="Bell MT" panose="02020503060305020303" pitchFamily="18" charset="0"/>
              </a:rPr>
              <a:t>Power BI Service</a:t>
            </a:r>
            <a:r>
              <a:rPr lang="en-GB" sz="1700" dirty="0">
                <a:latin typeface="Bell MT" panose="02020503060305020303" pitchFamily="18" charset="0"/>
              </a:rPr>
              <a:t>, enabling cloud access and collaboration.</a:t>
            </a:r>
          </a:p>
        </p:txBody>
      </p:sp>
    </p:spTree>
    <p:extLst>
      <p:ext uri="{BB962C8B-B14F-4D97-AF65-F5344CB8AC3E}">
        <p14:creationId xmlns:p14="http://schemas.microsoft.com/office/powerpoint/2010/main" val="399967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280160"/>
            <a:ext cx="10515600" cy="4555903"/>
          </a:xfrm>
        </p:spPr>
        <p:txBody>
          <a:bodyPr vert="horz" lIns="91440" tIns="45720" rIns="91440" bIns="45720" rtlCol="0">
            <a:normAutofit/>
          </a:bodyPr>
          <a:lstStyle/>
          <a:p>
            <a:pPr marL="0" indent="0">
              <a:buNone/>
            </a:pPr>
            <a:r>
              <a:rPr lang="en-GB" sz="1700" dirty="0">
                <a:latin typeface="Bell MT" panose="02020503060305020303" pitchFamily="18" charset="0"/>
              </a:rPr>
              <a:t>This slide should include a </a:t>
            </a:r>
            <a:r>
              <a:rPr lang="en-GB" sz="1700" b="1" dirty="0">
                <a:latin typeface="Bell MT" panose="02020503060305020303" pitchFamily="18" charset="0"/>
              </a:rPr>
              <a:t>screenshot of your dashboard</a:t>
            </a:r>
            <a:r>
              <a:rPr lang="en-GB" sz="1700" dirty="0">
                <a:latin typeface="Bell MT" panose="02020503060305020303" pitchFamily="18" charset="0"/>
              </a:rPr>
              <a:t>.</a:t>
            </a:r>
          </a:p>
          <a:p>
            <a:pPr marL="0" indent="0">
              <a:buNone/>
            </a:pPr>
            <a:r>
              <a:rPr lang="en-GB" sz="1700" dirty="0">
                <a:latin typeface="Bell MT" panose="02020503060305020303" pitchFamily="18" charset="0"/>
              </a:rPr>
              <a:t>Explain:</a:t>
            </a:r>
          </a:p>
          <a:p>
            <a:pPr marL="457200" lvl="1" indent="0">
              <a:buNone/>
            </a:pPr>
            <a:r>
              <a:rPr lang="en-GB" sz="1700" dirty="0">
                <a:latin typeface="Bell MT" panose="02020503060305020303" pitchFamily="18" charset="0"/>
              </a:rPr>
              <a:t>• KPI cards show total sales, profit, orders, and discounts</a:t>
            </a:r>
            <a:br>
              <a:rPr lang="en-GB" sz="1700" dirty="0">
                <a:latin typeface="Bell MT" panose="02020503060305020303" pitchFamily="18" charset="0"/>
              </a:rPr>
            </a:br>
            <a:r>
              <a:rPr lang="en-GB" sz="1700" dirty="0">
                <a:latin typeface="Bell MT" panose="02020503060305020303" pitchFamily="18" charset="0"/>
              </a:rPr>
              <a:t>• Sales by category highlights top-performing product groups</a:t>
            </a:r>
            <a:br>
              <a:rPr lang="en-GB" sz="1700" dirty="0">
                <a:latin typeface="Bell MT" panose="02020503060305020303" pitchFamily="18" charset="0"/>
              </a:rPr>
            </a:br>
            <a:r>
              <a:rPr lang="en-GB" sz="1700" dirty="0">
                <a:latin typeface="Bell MT" panose="02020503060305020303" pitchFamily="18" charset="0"/>
              </a:rPr>
              <a:t>• Sub-category chart identifies best-selling products</a:t>
            </a:r>
            <a:br>
              <a:rPr lang="en-GB" sz="1700" dirty="0">
                <a:latin typeface="Bell MT" panose="02020503060305020303" pitchFamily="18" charset="0"/>
              </a:rPr>
            </a:br>
            <a:r>
              <a:rPr lang="en-GB" sz="1700" dirty="0">
                <a:latin typeface="Bell MT" panose="02020503060305020303" pitchFamily="18" charset="0"/>
              </a:rPr>
              <a:t>• Map visualization shows regional sales distribution</a:t>
            </a:r>
            <a:br>
              <a:rPr lang="en-GB" sz="1700" dirty="0">
                <a:latin typeface="Bell MT" panose="02020503060305020303" pitchFamily="18" charset="0"/>
              </a:rPr>
            </a:br>
            <a:r>
              <a:rPr lang="en-GB" sz="1700" dirty="0">
                <a:latin typeface="Bell MT" panose="02020503060305020303" pitchFamily="18" charset="0"/>
              </a:rPr>
              <a:t>• Pie chart displays customer segment contribution</a:t>
            </a:r>
          </a:p>
          <a:p>
            <a:pPr lvl="1"/>
            <a:r>
              <a:rPr lang="en-GB" sz="1700" dirty="0">
                <a:latin typeface="Bell MT" panose="02020503060305020303" pitchFamily="18" charset="0"/>
              </a:rPr>
              <a:t>The dashboard enables quick and effective business analysis.</a:t>
            </a:r>
          </a:p>
          <a:p>
            <a:pPr lvl="1"/>
            <a:endParaRPr lang="en-GB" sz="1700" dirty="0">
              <a:latin typeface="Bell MT" panose="02020503060305020303" pitchFamily="18" charset="0"/>
            </a:endParaRPr>
          </a:p>
          <a:p>
            <a:pPr marL="457200" lvl="1" indent="0">
              <a:buNone/>
            </a:pPr>
            <a:r>
              <a:rPr lang="en-IN" sz="1800" b="1" dirty="0">
                <a:latin typeface="Bell MT" panose="02020503060305020303" pitchFamily="18" charset="0"/>
              </a:rPr>
              <a:t>FINAL PROJECT LINK : </a:t>
            </a:r>
            <a:r>
              <a:rPr lang="en-IN" sz="1800" dirty="0">
                <a:latin typeface="Bell MT" panose="02020503060305020303" pitchFamily="18" charset="0"/>
                <a:hlinkClick r:id="rId2"/>
              </a:rPr>
              <a:t>https://github.com/dishu-13/E-Commerce-Sales-PowerBI-Dashboard.git</a:t>
            </a:r>
            <a:endParaRPr lang="en-GB" sz="1700" dirty="0">
              <a:latin typeface="Bell MT" panose="020205030603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9B01-3422-74BF-9BB9-900BA695E88C}"/>
              </a:ext>
            </a:extLst>
          </p:cNvPr>
          <p:cNvSpPr>
            <a:spLocks noGrp="1"/>
          </p:cNvSpPr>
          <p:nvPr>
            <p:ph type="title"/>
          </p:nvPr>
        </p:nvSpPr>
        <p:spPr/>
        <p:txBody>
          <a:bodyPr/>
          <a:lstStyle/>
          <a:p>
            <a:br>
              <a:rPr lang="en-US"/>
            </a:br>
            <a:r>
              <a:rPr lang="en-US"/>
              <a:t>RESULT</a:t>
            </a:r>
            <a:endParaRPr lang="en-IN" dirty="0"/>
          </a:p>
        </p:txBody>
      </p:sp>
      <p:pic>
        <p:nvPicPr>
          <p:cNvPr id="5" name="Content Placeholder 4">
            <a:extLst>
              <a:ext uri="{FF2B5EF4-FFF2-40B4-BE49-F238E27FC236}">
                <a16:creationId xmlns:a16="http://schemas.microsoft.com/office/drawing/2014/main" id="{5EF501A8-DCF4-4CAE-B3EE-780937F971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prstGeom prst="rect">
            <a:avLst/>
          </a:prstGeom>
          <a:ln w="2286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749A80E7-53FF-FBA2-F397-F002988A2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445" y="1061541"/>
            <a:ext cx="8831877" cy="4987199"/>
          </a:xfrm>
          <a:prstGeom prst="rect">
            <a:avLst/>
          </a:prstGeom>
        </p:spPr>
      </p:pic>
      <p:sp>
        <p:nvSpPr>
          <p:cNvPr id="9" name="TextBox 8">
            <a:extLst>
              <a:ext uri="{FF2B5EF4-FFF2-40B4-BE49-F238E27FC236}">
                <a16:creationId xmlns:a16="http://schemas.microsoft.com/office/drawing/2014/main" id="{65DD84CE-4AF2-BEFF-9A64-3C819D60F3A7}"/>
              </a:ext>
            </a:extLst>
          </p:cNvPr>
          <p:cNvSpPr txBox="1"/>
          <p:nvPr/>
        </p:nvSpPr>
        <p:spPr>
          <a:xfrm>
            <a:off x="2796851" y="3244334"/>
            <a:ext cx="6265506" cy="369332"/>
          </a:xfrm>
          <a:prstGeom prst="rect">
            <a:avLst/>
          </a:prstGeom>
          <a:noFill/>
        </p:spPr>
        <p:txBody>
          <a:bodyPr wrap="square">
            <a:spAutoFit/>
          </a:bodyPr>
          <a:lstStyle/>
          <a:p>
            <a:r>
              <a:rPr lang="en-US" dirty="0"/>
              <a:t>RESULT</a:t>
            </a:r>
            <a:endParaRPr lang="en-IN" dirty="0"/>
          </a:p>
        </p:txBody>
      </p:sp>
    </p:spTree>
    <p:extLst>
      <p:ext uri="{BB962C8B-B14F-4D97-AF65-F5344CB8AC3E}">
        <p14:creationId xmlns:p14="http://schemas.microsoft.com/office/powerpoint/2010/main" val="229585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93068" y="1240971"/>
            <a:ext cx="10669571" cy="5728789"/>
          </a:xfrm>
        </p:spPr>
        <p:txBody>
          <a:bodyPr vert="horz" lIns="91440" tIns="45720" rIns="91440" bIns="45720" rtlCol="0">
            <a:normAutofit/>
          </a:bodyPr>
          <a:lstStyle/>
          <a:p>
            <a:pPr marL="0" indent="0">
              <a:buNone/>
            </a:pPr>
            <a:r>
              <a:rPr lang="en-GB" sz="1700" dirty="0">
                <a:latin typeface="Bell MT" panose="02020503060305020303" pitchFamily="18" charset="0"/>
              </a:rPr>
              <a:t>The </a:t>
            </a:r>
            <a:r>
              <a:rPr lang="en-GB" sz="1700" b="1" dirty="0">
                <a:latin typeface="Bell MT" panose="02020503060305020303" pitchFamily="18" charset="0"/>
              </a:rPr>
              <a:t>E-Commerce Sales Analytics Dashboard</a:t>
            </a:r>
            <a:r>
              <a:rPr lang="en-GB" sz="1700" dirty="0">
                <a:latin typeface="Bell MT" panose="02020503060305020303" pitchFamily="18" charset="0"/>
              </a:rPr>
              <a:t> demonstrates how data visualization and business intelligence tools can transform raw data into valuable insights.</a:t>
            </a:r>
          </a:p>
          <a:p>
            <a:pPr marL="0" indent="0">
              <a:buNone/>
            </a:pPr>
            <a:r>
              <a:rPr lang="en-GB" sz="1700" dirty="0">
                <a:latin typeface="Bell MT" panose="02020503060305020303" pitchFamily="18" charset="0"/>
              </a:rPr>
              <a:t>Through the use of </a:t>
            </a:r>
            <a:r>
              <a:rPr lang="en-GB" sz="1700" b="1" dirty="0">
                <a:latin typeface="Bell MT" panose="02020503060305020303" pitchFamily="18" charset="0"/>
              </a:rPr>
              <a:t>Microsoft Power BI</a:t>
            </a:r>
            <a:r>
              <a:rPr lang="en-GB" sz="1700" dirty="0">
                <a:latin typeface="Bell MT" panose="02020503060305020303" pitchFamily="18" charset="0"/>
              </a:rPr>
              <a:t>, the project successfully integrates sales, profit, customer segments, and regional data into a single interactive dashboard. This enables users to easily monitor key business metrics and </a:t>
            </a:r>
            <a:r>
              <a:rPr lang="en-GB" sz="1700" dirty="0" err="1">
                <a:latin typeface="Bell MT" panose="02020503060305020303" pitchFamily="18" charset="0"/>
              </a:rPr>
              <a:t>analyze</a:t>
            </a:r>
            <a:r>
              <a:rPr lang="en-GB" sz="1700" dirty="0">
                <a:latin typeface="Bell MT" panose="02020503060305020303" pitchFamily="18" charset="0"/>
              </a:rPr>
              <a:t> trends.</a:t>
            </a:r>
          </a:p>
          <a:p>
            <a:pPr marL="0" indent="0">
              <a:buNone/>
            </a:pPr>
            <a:r>
              <a:rPr lang="en-GB" sz="1700" dirty="0">
                <a:latin typeface="Bell MT" panose="02020503060305020303" pitchFamily="18" charset="0"/>
              </a:rPr>
              <a:t>The dashboard helps identify:</a:t>
            </a:r>
          </a:p>
          <a:p>
            <a:pPr marL="457200" lvl="1" indent="0">
              <a:buNone/>
            </a:pPr>
            <a:r>
              <a:rPr lang="en-GB" sz="1700" dirty="0">
                <a:latin typeface="Bell MT" panose="02020503060305020303" pitchFamily="18" charset="0"/>
              </a:rPr>
              <a:t>• The most profitable product categories</a:t>
            </a:r>
            <a:br>
              <a:rPr lang="en-GB" sz="1700" dirty="0">
                <a:latin typeface="Bell MT" panose="02020503060305020303" pitchFamily="18" charset="0"/>
              </a:rPr>
            </a:br>
            <a:r>
              <a:rPr lang="en-GB" sz="1700" dirty="0">
                <a:latin typeface="Bell MT" panose="02020503060305020303" pitchFamily="18" charset="0"/>
              </a:rPr>
              <a:t>• The top-performing regions in terms of sales</a:t>
            </a:r>
            <a:br>
              <a:rPr lang="en-GB" sz="1700" dirty="0">
                <a:latin typeface="Bell MT" panose="02020503060305020303" pitchFamily="18" charset="0"/>
              </a:rPr>
            </a:br>
            <a:r>
              <a:rPr lang="en-GB" sz="1700" dirty="0">
                <a:latin typeface="Bell MT" panose="02020503060305020303" pitchFamily="18" charset="0"/>
              </a:rPr>
              <a:t>• Customer segments that contribute the most revenue</a:t>
            </a:r>
            <a:br>
              <a:rPr lang="en-GB" sz="1700" dirty="0">
                <a:latin typeface="Bell MT" panose="02020503060305020303" pitchFamily="18" charset="0"/>
              </a:rPr>
            </a:br>
            <a:r>
              <a:rPr lang="en-GB" sz="1700" dirty="0">
                <a:latin typeface="Bell MT" panose="02020503060305020303" pitchFamily="18" charset="0"/>
              </a:rPr>
              <a:t>• The impact of discounts and shipping modes on overall performance</a:t>
            </a:r>
          </a:p>
          <a:p>
            <a:pPr marL="0" indent="0">
              <a:buNone/>
            </a:pPr>
            <a:r>
              <a:rPr lang="en-GB" sz="1700" dirty="0">
                <a:latin typeface="Bell MT" panose="02020503060305020303" pitchFamily="18" charset="0"/>
              </a:rPr>
              <a:t>By presenting these insights in a visual and interactive format, the system allows decision-makers to quickly understand business performance and make informed strategic decisions.</a:t>
            </a:r>
          </a:p>
          <a:p>
            <a:pPr marL="0" indent="0">
              <a:buNone/>
            </a:pPr>
            <a:r>
              <a:rPr lang="en-GB" sz="1700" dirty="0">
                <a:latin typeface="Bell MT" panose="02020503060305020303" pitchFamily="18" charset="0"/>
              </a:rPr>
              <a:t>Furthermore, the project highlights the importance of </a:t>
            </a:r>
            <a:r>
              <a:rPr lang="en-GB" sz="1700" b="1" dirty="0">
                <a:latin typeface="Bell MT" panose="02020503060305020303" pitchFamily="18" charset="0"/>
              </a:rPr>
              <a:t>data visualization, interactive dashboards, and business intelligence tools</a:t>
            </a:r>
            <a:r>
              <a:rPr lang="en-GB" sz="1700" dirty="0">
                <a:latin typeface="Bell MT" panose="02020503060305020303" pitchFamily="18" charset="0"/>
              </a:rPr>
              <a:t> in modern data-driven organizations.</a:t>
            </a:r>
          </a:p>
          <a:p>
            <a:pPr marL="0" indent="0">
              <a:buNone/>
            </a:pPr>
            <a:r>
              <a:rPr lang="en-GB" sz="1700" dirty="0">
                <a:latin typeface="Bell MT" panose="02020503060305020303" pitchFamily="18" charset="0"/>
              </a:rPr>
              <a:t>In conclusion, the developed dashboard not only simplifies complex data analysis but also provides a powerful platform for monitoring and improving e-commerce business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389991" y="1231641"/>
            <a:ext cx="10515600" cy="5262465"/>
          </a:xfrm>
        </p:spPr>
        <p:txBody>
          <a:bodyPr vert="horz" lIns="91440" tIns="45720" rIns="91440" bIns="45720" rtlCol="0">
            <a:noAutofit/>
          </a:bodyPr>
          <a:lstStyle/>
          <a:p>
            <a:pPr marL="0" indent="0">
              <a:buNone/>
            </a:pPr>
            <a:r>
              <a:rPr lang="en-GB" sz="1700" b="1" dirty="0">
                <a:latin typeface="Bell MT" panose="02020503060305020303" pitchFamily="18" charset="0"/>
              </a:rPr>
              <a:t>1. Integration of Real-Time Data</a:t>
            </a:r>
          </a:p>
          <a:p>
            <a:pPr marL="457200" lvl="1" indent="0">
              <a:buNone/>
            </a:pPr>
            <a:r>
              <a:rPr lang="en-GB" sz="1700" dirty="0">
                <a:latin typeface="Bell MT" panose="02020503060305020303" pitchFamily="18" charset="0"/>
              </a:rPr>
              <a:t>The dashboard can be integrated with real-time data sources such as online transaction databases or APIs. This will allow businesses to monitor sales performance instantly and respond quickly to market changes.</a:t>
            </a:r>
          </a:p>
          <a:p>
            <a:pPr marL="0" indent="0">
              <a:buNone/>
            </a:pPr>
            <a:r>
              <a:rPr lang="en-GB" sz="1700" b="1" dirty="0">
                <a:latin typeface="Bell MT" panose="02020503060305020303" pitchFamily="18" charset="0"/>
              </a:rPr>
              <a:t>2. Predictive Analytics</a:t>
            </a:r>
          </a:p>
          <a:p>
            <a:pPr marL="457200" lvl="1" indent="0">
              <a:buNone/>
            </a:pPr>
            <a:r>
              <a:rPr lang="en-GB" sz="1700" dirty="0">
                <a:latin typeface="Bell MT" panose="02020503060305020303" pitchFamily="18" charset="0"/>
              </a:rPr>
              <a:t>Machine learning algorithms can be integrated to forecast future sales trends. Techniques such as </a:t>
            </a:r>
            <a:r>
              <a:rPr lang="en-GB" sz="1700" b="1" dirty="0">
                <a:latin typeface="Bell MT" panose="02020503060305020303" pitchFamily="18" charset="0"/>
              </a:rPr>
              <a:t>regression analysis, time-series forecasting, or AI models</a:t>
            </a:r>
            <a:r>
              <a:rPr lang="en-GB" sz="1700" dirty="0">
                <a:latin typeface="Bell MT" panose="02020503060305020303" pitchFamily="18" charset="0"/>
              </a:rPr>
              <a:t> can help businesses predict demand and plan inventory more effectively.</a:t>
            </a:r>
          </a:p>
          <a:p>
            <a:pPr marL="0" indent="0">
              <a:buNone/>
            </a:pPr>
            <a:r>
              <a:rPr lang="en-GB" sz="1700" b="1" dirty="0">
                <a:latin typeface="Bell MT" panose="02020503060305020303" pitchFamily="18" charset="0"/>
              </a:rPr>
              <a:t>3. Advanced Customer Analysis</a:t>
            </a:r>
          </a:p>
          <a:p>
            <a:pPr marL="457200" lvl="1" indent="0">
              <a:buNone/>
            </a:pPr>
            <a:r>
              <a:rPr lang="en-GB" sz="1700" dirty="0">
                <a:latin typeface="Bell MT" panose="02020503060305020303" pitchFamily="18" charset="0"/>
              </a:rPr>
              <a:t>Future versions of the system can include deeper customer analytics, such as customer lifetime value, purchasing </a:t>
            </a:r>
            <a:r>
              <a:rPr lang="en-GB" sz="1700" dirty="0" err="1">
                <a:latin typeface="Bell MT" panose="02020503060305020303" pitchFamily="18" charset="0"/>
              </a:rPr>
              <a:t>behavior</a:t>
            </a:r>
            <a:r>
              <a:rPr lang="en-GB" sz="1700" dirty="0">
                <a:latin typeface="Bell MT" panose="02020503060305020303" pitchFamily="18" charset="0"/>
              </a:rPr>
              <a:t> patterns, and personalized recommendation systems.</a:t>
            </a:r>
          </a:p>
          <a:p>
            <a:pPr marL="0" indent="0">
              <a:buNone/>
            </a:pPr>
            <a:r>
              <a:rPr lang="en-GB" sz="1700" b="1" dirty="0">
                <a:latin typeface="Bell MT" panose="02020503060305020303" pitchFamily="18" charset="0"/>
              </a:rPr>
              <a:t>4. Multi-Region and Global Analysis</a:t>
            </a:r>
          </a:p>
          <a:p>
            <a:pPr marL="457200" lvl="1" indent="0">
              <a:buNone/>
            </a:pPr>
            <a:r>
              <a:rPr lang="en-GB" sz="1700" dirty="0">
                <a:latin typeface="Bell MT" panose="02020503060305020303" pitchFamily="18" charset="0"/>
              </a:rPr>
              <a:t>The dashboard can be expanded to include data from multiple countries or regions, allowing businesses to perform global performance comparisons and market expansion analysis</a:t>
            </a:r>
            <a:r>
              <a:rPr lang="en-GB" sz="1300" dirty="0">
                <a:latin typeface="Bell MT" panose="02020503060305020303" pitchFamily="18" charset="0"/>
              </a:rPr>
              <a:t>.</a:t>
            </a:r>
          </a:p>
          <a:p>
            <a:pPr marL="0" indent="0">
              <a:buNone/>
            </a:pPr>
            <a:r>
              <a:rPr lang="en-GB" sz="1700" b="1" dirty="0">
                <a:latin typeface="Bell MT" panose="02020503060305020303" pitchFamily="18" charset="0"/>
              </a:rPr>
              <a:t>5. Integration with Cloud Platforms</a:t>
            </a:r>
          </a:p>
          <a:p>
            <a:pPr marL="457200" lvl="1" indent="0">
              <a:buNone/>
            </a:pPr>
            <a:r>
              <a:rPr lang="en-GB" sz="1700" dirty="0">
                <a:latin typeface="Bell MT" panose="02020503060305020303" pitchFamily="18" charset="0"/>
              </a:rPr>
              <a:t>The system can be deployed using </a:t>
            </a:r>
            <a:r>
              <a:rPr lang="en-GB" sz="1700" b="1" dirty="0">
                <a:latin typeface="Bell MT" panose="02020503060305020303" pitchFamily="18" charset="0"/>
              </a:rPr>
              <a:t>Azure Cloud or Power BI Service</a:t>
            </a:r>
            <a:r>
              <a:rPr lang="en-GB" sz="1700" dirty="0">
                <a:latin typeface="Bell MT" panose="02020503060305020303" pitchFamily="18" charset="0"/>
              </a:rPr>
              <a:t>, enabling secure sharing, scalability, and accessibility across multiple devices.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746449"/>
            <a:ext cx="10515600" cy="645174"/>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420324" y="3633925"/>
            <a:ext cx="10515600" cy="4251960"/>
          </a:xfrm>
        </p:spPr>
        <p:txBody>
          <a:bodyPr vert="horz" lIns="91440" tIns="45720" rIns="91440" bIns="45720" rtlCol="0" anchor="t">
            <a:normAutofit/>
          </a:bodyPr>
          <a:lstStyle/>
          <a:p>
            <a:pPr marL="0" indent="0">
              <a:buNone/>
            </a:pPr>
            <a:endParaRPr lang="en-IN" sz="1600" u="sng" dirty="0">
              <a:solidFill>
                <a:srgbClr val="0070C0"/>
              </a:solidFill>
              <a:latin typeface="Franklin Gothic Book" panose="020B0503020102020204"/>
            </a:endParaRPr>
          </a:p>
          <a:p>
            <a:pPr marL="0" indent="0">
              <a:buNone/>
            </a:pPr>
            <a:endParaRPr lang="en-IN" sz="1600" dirty="0">
              <a:latin typeface="Franklin Gothic Book" panose="020B0503020102020204"/>
            </a:endParaRPr>
          </a:p>
        </p:txBody>
      </p:sp>
      <p:sp>
        <p:nvSpPr>
          <p:cNvPr id="6" name="Rectangle 3">
            <a:extLst>
              <a:ext uri="{FF2B5EF4-FFF2-40B4-BE49-F238E27FC236}">
                <a16:creationId xmlns:a16="http://schemas.microsoft.com/office/drawing/2014/main" id="{267E28FE-68FF-433E-23BF-D776E0100CF9}"/>
              </a:ext>
            </a:extLst>
          </p:cNvPr>
          <p:cNvSpPr>
            <a:spLocks noChangeArrowheads="1"/>
          </p:cNvSpPr>
          <p:nvPr/>
        </p:nvSpPr>
        <p:spPr bwMode="auto">
          <a:xfrm>
            <a:off x="279918" y="375590"/>
            <a:ext cx="11784564"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IN" sz="1700" dirty="0">
              <a:latin typeface="Bell MT" panose="02020503060305020303" pitchFamily="18" charset="0"/>
            </a:endParaRPr>
          </a:p>
          <a:p>
            <a:pPr lvl="0" eaLnBrk="0" fontAlgn="base" hangingPunct="0">
              <a:spcBef>
                <a:spcPct val="0"/>
              </a:spcBef>
              <a:spcAft>
                <a:spcPct val="0"/>
              </a:spcAft>
            </a:pPr>
            <a:endParaRPr lang="en-IN" sz="1700" dirty="0">
              <a:latin typeface="Bell MT" panose="02020503060305020303" pitchFamily="18" charset="0"/>
            </a:endParaRPr>
          </a:p>
          <a:p>
            <a:pPr lvl="0" eaLnBrk="0" fontAlgn="base" hangingPunct="0">
              <a:spcBef>
                <a:spcPct val="0"/>
              </a:spcBef>
              <a:spcAft>
                <a:spcPct val="0"/>
              </a:spcAft>
            </a:pPr>
            <a:endParaRPr lang="en-IN" sz="1700" dirty="0">
              <a:latin typeface="Bell MT" panose="02020503060305020303" pitchFamily="18" charset="0"/>
            </a:endParaRPr>
          </a:p>
          <a:p>
            <a:pPr lvl="0" eaLnBrk="0" fontAlgn="base" hangingPunct="0">
              <a:spcBef>
                <a:spcPct val="0"/>
              </a:spcBef>
              <a:spcAft>
                <a:spcPct val="0"/>
              </a:spcAft>
            </a:pPr>
            <a:endParaRPr lang="en-IN" sz="1700" dirty="0">
              <a:latin typeface="Bell MT" panose="02020503060305020303" pitchFamily="18" charset="0"/>
            </a:endParaRPr>
          </a:p>
          <a:p>
            <a:pPr lvl="0" eaLnBrk="0" fontAlgn="base" hangingPunct="0">
              <a:spcBef>
                <a:spcPct val="0"/>
              </a:spcBef>
              <a:spcAft>
                <a:spcPct val="0"/>
              </a:spcAft>
            </a:pPr>
            <a:r>
              <a:rPr lang="en-IN" sz="1700" dirty="0">
                <a:latin typeface="Bell MT" panose="02020503060305020303" pitchFamily="18" charset="0"/>
              </a:rPr>
              <a:t>• Microsoft Power BI Documentation</a:t>
            </a:r>
            <a:br>
              <a:rPr lang="en-IN" sz="1700" dirty="0">
                <a:latin typeface="Bell MT" panose="02020503060305020303" pitchFamily="18" charset="0"/>
              </a:rPr>
            </a:br>
            <a:r>
              <a:rPr lang="en-IN" sz="1700" dirty="0">
                <a:latin typeface="Bell MT" panose="02020503060305020303" pitchFamily="18" charset="0"/>
              </a:rPr>
              <a:t>• Data Visualization &amp; Business Intelligence Resources</a:t>
            </a:r>
            <a:br>
              <a:rPr lang="en-IN" sz="1700" dirty="0">
                <a:latin typeface="Bell MT" panose="02020503060305020303" pitchFamily="18" charset="0"/>
              </a:rPr>
            </a:br>
            <a:r>
              <a:rPr lang="en-IN" sz="1700" dirty="0">
                <a:latin typeface="Bell MT" panose="02020503060305020303" pitchFamily="18" charset="0"/>
              </a:rPr>
              <a:t>• Sample Superstore Dataset</a:t>
            </a:r>
            <a:br>
              <a:rPr lang="en-IN" sz="1700" dirty="0">
                <a:latin typeface="Bell MT" panose="02020503060305020303" pitchFamily="18" charset="0"/>
              </a:rPr>
            </a:br>
            <a:r>
              <a:rPr lang="en-IN" sz="1700" dirty="0">
                <a:latin typeface="Bell MT" panose="02020503060305020303" pitchFamily="18" charset="0"/>
              </a:rPr>
              <a:t>• Power BI Community Tutorials</a:t>
            </a:r>
            <a:endParaRPr kumimoji="0" lang="en-IN" altLang="en-US" sz="1700" b="0" i="0" u="none" strike="noStrike" cap="none" normalizeH="0" baseline="0" dirty="0">
              <a:ln>
                <a:noFill/>
              </a:ln>
              <a:solidFill>
                <a:schemeClr val="tx1"/>
              </a:solidFill>
              <a:effectLst/>
              <a:latin typeface="Bell MT" panose="02020503060305020303" pitchFamily="18" charset="0"/>
            </a:endParaRPr>
          </a:p>
          <a:p>
            <a:pPr eaLnBrk="0" fontAlgn="base" hangingPunct="0">
              <a:spcBef>
                <a:spcPct val="0"/>
              </a:spcBef>
              <a:spcAft>
                <a:spcPct val="0"/>
              </a:spcAft>
            </a:pPr>
            <a:r>
              <a:rPr lang="en-US" altLang="en-US" dirty="0">
                <a:latin typeface="Bell MT" panose="02020503060305020303" pitchFamily="18" charset="0"/>
              </a:rPr>
              <a:t>Dataset: </a:t>
            </a:r>
            <a:r>
              <a:rPr lang="en-IN" dirty="0">
                <a:latin typeface="Bell MT" panose="02020503060305020303" pitchFamily="18" charset="0"/>
                <a:hlinkClick r:id="rId2"/>
              </a:rPr>
              <a:t>SampleSuperstore.csv.xlsx</a:t>
            </a:r>
            <a:endParaRPr lang="en-IN" dirty="0">
              <a:latin typeface="Bell MT" panose="02020503060305020303" pitchFamily="18" charset="0"/>
            </a:endParaRPr>
          </a:p>
          <a:p>
            <a:pPr eaLnBrk="0" fontAlgn="base" hangingPunct="0">
              <a:spcBef>
                <a:spcPct val="0"/>
              </a:spcBef>
              <a:spcAft>
                <a:spcPct val="0"/>
              </a:spcAft>
            </a:pPr>
            <a:r>
              <a:rPr lang="en-IN" dirty="0" err="1">
                <a:latin typeface="Bell MT" panose="02020503060305020303" pitchFamily="18" charset="0"/>
              </a:rPr>
              <a:t>Github</a:t>
            </a:r>
            <a:r>
              <a:rPr lang="en-IN" dirty="0">
                <a:latin typeface="Bell MT" panose="02020503060305020303" pitchFamily="18" charset="0"/>
              </a:rPr>
              <a:t> link : </a:t>
            </a:r>
            <a:r>
              <a:rPr lang="en-IN" dirty="0">
                <a:latin typeface="Bell MT" panose="02020503060305020303" pitchFamily="18" charset="0"/>
                <a:hlinkClick r:id="rId3"/>
              </a:rPr>
              <a:t>https://github.com/dishu-13/E-Commerce-Sales-PowerBI-Dashboard.git</a:t>
            </a:r>
            <a:endParaRPr lang="en-IN" dirty="0">
              <a:latin typeface="Bell MT" panose="02020503060305020303" pitchFamily="18" charset="0"/>
            </a:endParaRPr>
          </a:p>
          <a:p>
            <a:pPr lvl="0" eaLnBrk="0" fontAlgn="base" hangingPunct="0">
              <a:spcBef>
                <a:spcPct val="0"/>
              </a:spcBef>
              <a:spcAft>
                <a:spcPct val="0"/>
              </a:spcAft>
            </a:pPr>
            <a:endParaRPr kumimoji="0" lang="en-US" altLang="en-US" sz="1700" b="0" i="0" u="none" strike="noStrike" cap="none" normalizeH="0" baseline="0" dirty="0">
              <a:ln>
                <a:noFill/>
              </a:ln>
              <a:solidFill>
                <a:schemeClr val="tx1"/>
              </a:solidFill>
              <a:effectLst/>
              <a:latin typeface="Bell MT" panose="020205030603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1374</Words>
  <Application>Microsoft Office PowerPoint</Application>
  <PresentationFormat>Widescreen</PresentationFormat>
  <Paragraphs>101</Paragraphs>
  <Slides>14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Aptos</vt:lpstr>
      <vt:lpstr>Arial</vt:lpstr>
      <vt:lpstr>Bell MT</vt:lpstr>
      <vt:lpstr>Calibri</vt:lpstr>
      <vt:lpstr>Franklin Gothic Book</vt:lpstr>
      <vt:lpstr>1_Office Theme</vt:lpstr>
      <vt:lpstr>Custom Design</vt:lpstr>
      <vt:lpstr>PowerPoint Presentation</vt:lpstr>
      <vt:lpstr>OUTLINE:</vt:lpstr>
      <vt:lpstr>Problem Statement:</vt:lpstr>
      <vt:lpstr>Proposed Solution:</vt:lpstr>
      <vt:lpstr> </vt:lpstr>
      <vt:lpstr>System  Approach:</vt:lpstr>
      <vt:lpstr> </vt:lpstr>
      <vt:lpstr>Algorithm &amp; Deployment:</vt:lpstr>
      <vt:lpstr>Result:</vt:lpstr>
      <vt:lpstr> 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dishu daksh</cp:lastModifiedBy>
  <cp:revision>108</cp:revision>
  <dcterms:created xsi:type="dcterms:W3CDTF">2024-05-21T11:55:00Z</dcterms:created>
  <dcterms:modified xsi:type="dcterms:W3CDTF">2026-03-15T11:05:24Z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